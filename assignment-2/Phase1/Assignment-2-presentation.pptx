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3212" y="1183035"/>
            <a:ext cx="2708077" cy="419100"/>
          </a:xfrm>
          <a:prstGeom prst="roundRect">
            <a:avLst>
              <a:gd name="adj" fmla="val 45455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80441" y="1259235"/>
            <a:ext cx="23736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FEATURE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25007" y="1983135"/>
            <a:ext cx="6484337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spcAft>
                <a:spcPts val="12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Learning Intent Detection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736598" y="2790825"/>
            <a:ext cx="386130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2400"/>
              </a:spcAft>
              <a:buNone/>
            </a:pPr>
            <a:r>
              <a:rPr lang="en-US" sz="1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learners find tutorials, not Shorts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47666" y="3693765"/>
            <a:ext cx="381000" cy="266700"/>
          </a:xfrm>
          <a:prstGeom prst="roundRect">
            <a:avLst>
              <a:gd name="adj" fmla="val 2142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100066" y="3798540"/>
            <a:ext cx="9525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00066" y="3855690"/>
            <a:ext cx="9525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7691" y="3769965"/>
            <a:ext cx="0" cy="114300"/>
          </a:xfrm>
          <a:prstGeom prst="line">
            <a:avLst/>
          </a:prstGeom>
          <a:noFill/>
          <a:ln w="952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4754910"/>
            <a:ext cx="79667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Swapan Kumar Soren • Cohort C48 • December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1289745"/>
            <a:ext cx="8001000" cy="1028700"/>
          </a:xfrm>
          <a:prstGeom prst="roundRect">
            <a:avLst>
              <a:gd name="adj" fmla="val 11111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50" y="1289745"/>
            <a:ext cx="0" cy="10287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1518345"/>
            <a:ext cx="76558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search for tutorials but get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flooded with Shorts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can't teach complex topics in 60 seconds.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585145"/>
            <a:ext cx="2565350" cy="1382762"/>
          </a:xfrm>
          <a:prstGeom prst="roundRect">
            <a:avLst>
              <a:gd name="adj" fmla="val 6888"/>
            </a:avLst>
          </a:prstGeom>
          <a:solidFill>
            <a:srgbClr val="1A1A1A"/>
          </a:solidFill>
          <a:ln w="9525">
            <a:solidFill>
              <a:srgbClr val="3F3F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40372" y="2785170"/>
            <a:ext cx="220860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40372" y="3421410"/>
            <a:ext cx="220860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learners see Shorts</a:t>
            </a:r>
            <a:endParaRPr lang="en-US" sz="975" dirty="0"/>
          </a:p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tutorial searches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479750" y="2585145"/>
            <a:ext cx="2565350" cy="1382762"/>
          </a:xfrm>
          <a:prstGeom prst="roundRect">
            <a:avLst>
              <a:gd name="adj" fmla="val 6888"/>
            </a:avLst>
          </a:prstGeom>
          <a:solidFill>
            <a:srgbClr val="1A1A1A"/>
          </a:solidFill>
          <a:ln w="9525">
            <a:solidFill>
              <a:srgbClr val="3F3F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58122" y="2785170"/>
            <a:ext cx="220860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F9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3658122" y="3421410"/>
            <a:ext cx="220860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 level</a:t>
            </a:r>
            <a:endParaRPr lang="en-US" sz="975" dirty="0"/>
          </a:p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(highest recorded)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197501" y="2585145"/>
            <a:ext cx="2565350" cy="1382762"/>
          </a:xfrm>
          <a:prstGeom prst="roundRect">
            <a:avLst>
              <a:gd name="adj" fmla="val 6888"/>
            </a:avLst>
          </a:prstGeom>
          <a:solidFill>
            <a:srgbClr val="1A1A1A"/>
          </a:solidFill>
          <a:ln w="9525">
            <a:solidFill>
              <a:srgbClr val="3F3F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75873" y="2785170"/>
            <a:ext cx="220860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6375873" y="3421410"/>
            <a:ext cx="220860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 YouTube</a:t>
            </a:r>
            <a:endParaRPr lang="en-US" sz="975" dirty="0"/>
          </a:p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Google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62000" y="4234607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400" y="4325094"/>
            <a:ext cx="49697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abandonment = lost users, lost ad revenue, lost competitive position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62000" y="4781550"/>
            <a:ext cx="2635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Primary research - 7 user interviews (Phase 1 and 2)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Voice of the Learner</a:t>
            </a:r>
            <a:endParaRPr lang="en-US" sz="2700" dirty="0"/>
          </a:p>
        </p:txBody>
      </p:sp>
      <p:pic>
        <p:nvPicPr>
          <p:cNvPr id="4" name="Image 0" descr="/tmp/rasterized-gradient-b5e46d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130945"/>
            <a:ext cx="952500" cy="952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2235845"/>
            <a:ext cx="2720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Neha Sharma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62000" y="2540645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Analyst, 28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762000" y="2732931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762000" y="3058567"/>
            <a:ext cx="2667000" cy="586532"/>
          </a:xfrm>
          <a:prstGeom prst="roundRect">
            <a:avLst>
              <a:gd name="adj" fmla="val 12992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76300" y="3172867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GOALS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876300" y="3357563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Excel, Data Analysis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762000" y="3797498"/>
            <a:ext cx="2667000" cy="786557"/>
          </a:xfrm>
          <a:prstGeom prst="roundRect">
            <a:avLst>
              <a:gd name="adj" fmla="val 9688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51916" y="3911798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851916" y="4096494"/>
            <a:ext cx="248716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657600" y="1181100"/>
            <a:ext cx="5105400" cy="866775"/>
          </a:xfrm>
          <a:prstGeom prst="roundRect">
            <a:avLst>
              <a:gd name="adj" fmla="val 1318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676650" y="1181100"/>
            <a:ext cx="0" cy="866775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8100" y="1257300"/>
            <a:ext cx="967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886200" y="1371600"/>
            <a:ext cx="4780026" cy="48577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search for 'Python for beginners', the first few results are Shorts. 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9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too short to explain anything properly.</a:t>
            </a:r>
            <a:endParaRPr lang="en-US" sz="1275" dirty="0"/>
          </a:p>
        </p:txBody>
      </p:sp>
      <p:pic>
        <p:nvPicPr>
          <p:cNvPr id="18" name="Image 1" descr="/tmp/rasterized-gradient-50cf11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00275"/>
            <a:ext cx="5105400" cy="13144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29050" y="2295525"/>
            <a:ext cx="967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3905250" y="2447925"/>
            <a:ext cx="4702302" cy="5334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Sometimes I just leave YouTube and search on Google instead.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657600" y="3667125"/>
            <a:ext cx="5105400" cy="866775"/>
          </a:xfrm>
          <a:prstGeom prst="roundRect">
            <a:avLst>
              <a:gd name="adj" fmla="val 1318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3676650" y="3667125"/>
            <a:ext cx="0" cy="866775"/>
          </a:xfrm>
          <a:prstGeom prst="line">
            <a:avLst/>
          </a:prstGeom>
          <a:noFill/>
          <a:ln w="38100">
            <a:solidFill>
              <a:srgbClr val="1A73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848100" y="3743325"/>
            <a:ext cx="967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3886200" y="3857625"/>
            <a:ext cx="4780026" cy="48577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to scroll a lot to find a 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 minute tutorial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actually teaches something.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66700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is the Right Solution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1186011"/>
            <a:ext cx="3524250" cy="1912590"/>
          </a:xfrm>
          <a:prstGeom prst="roundRect">
            <a:avLst>
              <a:gd name="adj" fmla="val 597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62000" y="1200299"/>
            <a:ext cx="352425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1405086"/>
            <a:ext cx="32061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(MANUAL)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52500" y="1641277"/>
            <a:ext cx="32061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must manually filter</a:t>
            </a:r>
            <a:endParaRPr lang="en-US" sz="1125" dirty="0"/>
          </a:p>
        </p:txBody>
      </p:sp>
      <p:pic>
        <p:nvPicPr>
          <p:cNvPr id="8" name="Image 0" descr="/tmp/rasterized-gradient-63a7db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0" y="1186011"/>
            <a:ext cx="3524250" cy="19125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29250" y="1405086"/>
            <a:ext cx="32061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 (AUTOMATIC)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29250" y="1641277"/>
            <a:ext cx="32061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detects intent &amp; optimizes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762000" y="3289102"/>
            <a:ext cx="8001000" cy="1373237"/>
          </a:xfrm>
          <a:prstGeom prst="roundRect">
            <a:avLst>
              <a:gd name="adj" fmla="val 8323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52500" y="3479602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IS THE RIGHT FIT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52500" y="3780532"/>
            <a:ext cx="2383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Recognition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952500" y="3991868"/>
            <a:ext cx="238348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can identify learning signals in queries: "tutorial", "how to", "for beginners", "step by step"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594050" y="3780532"/>
            <a:ext cx="2383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User Effort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3594050" y="3991868"/>
            <a:ext cx="2383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automatically without requiring users to learn new features or change behavior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35601" y="3780532"/>
            <a:ext cx="2383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Infinitely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6235601" y="3991868"/>
            <a:ext cx="2383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 billions of searches instantly, learns from user feedback over time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62000" y="4781550"/>
            <a:ext cx="30347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removes friction without requiring user action - the best UX is no UX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AI 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965150"/>
            <a:ext cx="1524000" cy="1051173"/>
          </a:xfrm>
          <a:prstGeom prst="roundRect">
            <a:avLst>
              <a:gd name="adj" fmla="val 9061"/>
            </a:avLst>
          </a:prstGeom>
          <a:solidFill>
            <a:srgbClr val="282828"/>
          </a:solidFill>
          <a:ln w="19050">
            <a:solidFill>
              <a:srgbClr val="3F3F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21639" y="1136600"/>
            <a:ext cx="12047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921639" y="1340346"/>
            <a:ext cx="12047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921639" y="1551682"/>
            <a:ext cx="120472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"Python tutorial for beginners"</a:t>
            </a:r>
            <a:endParaRPr lang="en-US" sz="825" dirty="0"/>
          </a:p>
        </p:txBody>
      </p:sp>
      <p:pic>
        <p:nvPicPr>
          <p:cNvPr id="8" name="Image 0" descr="/tmp/rasterized-gradient-6714b3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0" y="1038374"/>
            <a:ext cx="1714500" cy="90457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62834" y="1209824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2862834" y="1413570"/>
            <a:ext cx="13990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Intent Detection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2862834" y="1624905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analyzes keywords</a:t>
            </a:r>
            <a:endParaRPr lang="en-US" sz="825" dirty="0"/>
          </a:p>
        </p:txBody>
      </p:sp>
      <p:pic>
        <p:nvPicPr>
          <p:cNvPr id="12" name="Image 1" descr="/tmp/rasterized-gradient-e46913f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0" y="1038374"/>
            <a:ext cx="1714500" cy="9045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96434" y="1209824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4996434" y="1413570"/>
            <a:ext cx="13990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Optimization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4996434" y="1624905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Deprioritize Shorts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6972300" y="1038374"/>
            <a:ext cx="1524000" cy="904577"/>
          </a:xfrm>
          <a:prstGeom prst="roundRect">
            <a:avLst>
              <a:gd name="adj" fmla="val 10530"/>
            </a:avLst>
          </a:prstGeom>
          <a:solidFill>
            <a:srgbClr val="1B5E20"/>
          </a:solidFill>
          <a:ln w="19050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131939" y="1209824"/>
            <a:ext cx="12047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7131939" y="1413570"/>
            <a:ext cx="12047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Feed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7131939" y="1624905"/>
            <a:ext cx="12047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Tutorials first!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762000" y="2168723"/>
            <a:ext cx="8001000" cy="1424880"/>
          </a:xfrm>
          <a:prstGeom prst="roundRect">
            <a:avLst>
              <a:gd name="adj" fmla="val 802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781050" y="2168723"/>
            <a:ext cx="0" cy="1424880"/>
          </a:xfrm>
          <a:prstGeom prst="line">
            <a:avLst/>
          </a:prstGeom>
          <a:noFill/>
          <a:ln w="38100">
            <a:solidFill>
              <a:srgbClr val="1A73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90600" y="2359223"/>
            <a:ext cx="77335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DETECTION SIGNALS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62000" y="3746004"/>
            <a:ext cx="2565350" cy="1098947"/>
          </a:xfrm>
          <a:prstGeom prst="roundRect">
            <a:avLst>
              <a:gd name="adj" fmla="val 8667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914400" y="3898404"/>
            <a:ext cx="2305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9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914400" y="4134594"/>
            <a:ext cx="230576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914400" y="4545955"/>
            <a:ext cx="2305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trigger when intent is clear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3479750" y="3746004"/>
            <a:ext cx="2565350" cy="1098947"/>
          </a:xfrm>
          <a:prstGeom prst="roundRect">
            <a:avLst>
              <a:gd name="adj" fmla="val 8667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632150" y="3898404"/>
            <a:ext cx="2305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632150" y="4134594"/>
            <a:ext cx="230576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&lt;50ms</a:t>
            </a:r>
            <a:endParaRPr lang="en-US" sz="2100" dirty="0"/>
          </a:p>
        </p:txBody>
      </p:sp>
      <p:sp>
        <p:nvSpPr>
          <p:cNvPr id="30" name="Text 26"/>
          <p:cNvSpPr/>
          <p:nvPr/>
        </p:nvSpPr>
        <p:spPr>
          <a:xfrm>
            <a:off x="3632150" y="4545955"/>
            <a:ext cx="2305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perceptible delay for users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6197501" y="3746004"/>
            <a:ext cx="2565350" cy="1098947"/>
          </a:xfrm>
          <a:prstGeom prst="roundRect">
            <a:avLst>
              <a:gd name="adj" fmla="val 8667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6349901" y="3898404"/>
            <a:ext cx="2305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OVERRIDE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349901" y="4134594"/>
            <a:ext cx="230576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2100" dirty="0"/>
          </a:p>
        </p:txBody>
      </p:sp>
      <p:sp>
        <p:nvSpPr>
          <p:cNvPr id="34" name="Text 30"/>
          <p:cNvSpPr/>
          <p:nvPr/>
        </p:nvSpPr>
        <p:spPr>
          <a:xfrm>
            <a:off x="6349901" y="4545955"/>
            <a:ext cx="2305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Shorts" link available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fea2a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Experience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762000" y="962918"/>
            <a:ext cx="3533775" cy="419100"/>
          </a:xfrm>
          <a:prstGeom prst="roundRect">
            <a:avLst>
              <a:gd name="adj" fmla="val 1363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82110" y="1039118"/>
            <a:ext cx="3293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62000" y="1496318"/>
            <a:ext cx="3533775" cy="3312765"/>
          </a:xfrm>
          <a:prstGeom prst="roundRect">
            <a:avLst>
              <a:gd name="adj" fmla="val 3450"/>
            </a:avLst>
          </a:prstGeom>
          <a:solidFill>
            <a:srgbClr val="1A1A1A"/>
          </a:solidFill>
          <a:ln w="9525">
            <a:solidFill>
              <a:srgbClr val="3F3F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23925" y="1658243"/>
            <a:ext cx="3209925" cy="350490"/>
          </a:xfrm>
          <a:prstGeom prst="roundRect">
            <a:avLst>
              <a:gd name="adj" fmla="val 16306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19175" y="1753493"/>
            <a:ext cx="307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Python for beginners tutorial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23925" y="2670721"/>
            <a:ext cx="3209925" cy="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925" y="2161133"/>
            <a:ext cx="762000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781175" y="2161133"/>
            <a:ext cx="1232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 60 Seconds! 🔥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1781175" y="2326779"/>
            <a:ext cx="12325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0:58 • 1.2M views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923925" y="3261271"/>
            <a:ext cx="3209925" cy="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3925" y="2751683"/>
            <a:ext cx="762000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781175" y="2751683"/>
            <a:ext cx="13665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Python FAST! #coding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781175" y="2917329"/>
            <a:ext cx="13665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 • 856K views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923925" y="3851821"/>
            <a:ext cx="3209925" cy="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3925" y="3342233"/>
            <a:ext cx="762000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781175" y="3342233"/>
            <a:ext cx="12444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Tips You Need! 🐍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781175" y="3507879"/>
            <a:ext cx="12444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0:32 • 2.1M views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23925" y="3932783"/>
            <a:ext cx="762000" cy="428625"/>
          </a:xfrm>
          <a:prstGeom prst="roundRect">
            <a:avLst>
              <a:gd name="adj" fmla="val 8889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781175" y="3932783"/>
            <a:ext cx="13782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Tutorial for Beginners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1781175" y="4098429"/>
            <a:ext cx="1378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with Mosh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91826" y="4513808"/>
            <a:ext cx="3274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scroll to find tutorials ↓</a:t>
            </a:r>
            <a:endParaRPr lang="en-US" sz="750" dirty="0"/>
          </a:p>
        </p:txBody>
      </p:sp>
      <p:pic>
        <p:nvPicPr>
          <p:cNvPr id="25" name="Image 1" descr="/tmp/rasterized-gradient-db1c36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5" y="2647950"/>
            <a:ext cx="476250" cy="47625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29225" y="1072455"/>
            <a:ext cx="3533775" cy="419100"/>
          </a:xfrm>
          <a:prstGeom prst="roundRect">
            <a:avLst>
              <a:gd name="adj" fmla="val 13636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349335" y="1148655"/>
            <a:ext cx="3293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(WITH AI)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229225" y="1605855"/>
            <a:ext cx="3533775" cy="3093690"/>
          </a:xfrm>
          <a:prstGeom prst="roundRect">
            <a:avLst>
              <a:gd name="adj" fmla="val 3695"/>
            </a:avLst>
          </a:prstGeom>
          <a:solidFill>
            <a:srgbClr val="1A1A1A"/>
          </a:solidFill>
          <a:ln w="19050">
            <a:solidFill>
              <a:srgbClr val="1A73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400675" y="1777305"/>
            <a:ext cx="3190875" cy="350490"/>
          </a:xfrm>
          <a:prstGeom prst="roundRect">
            <a:avLst>
              <a:gd name="adj" fmla="val 16306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495925" y="1872555"/>
            <a:ext cx="30603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Python for beginners tutorial</a:t>
            </a:r>
            <a:endParaRPr lang="en-US" sz="900" dirty="0"/>
          </a:p>
        </p:txBody>
      </p:sp>
      <p:pic>
        <p:nvPicPr>
          <p:cNvPr id="31" name="Image 2" descr="/tmp/rasterized-gradient-04f8762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675" y="2203996"/>
            <a:ext cx="3190875" cy="24765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514975" y="2261146"/>
            <a:ext cx="3021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Learning intent detected • Showing tutorials first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5324475" y="2546896"/>
            <a:ext cx="3343275" cy="590550"/>
          </a:xfrm>
          <a:prstGeom prst="roundRect">
            <a:avLst>
              <a:gd name="adj" fmla="val 9677"/>
            </a:avLst>
          </a:prstGeom>
          <a:solidFill>
            <a:srgbClr val="1A73E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29"/>
          <p:cNvSpPr/>
          <p:nvPr/>
        </p:nvSpPr>
        <p:spPr>
          <a:xfrm>
            <a:off x="5324475" y="3132683"/>
            <a:ext cx="3343275" cy="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400675" y="2623096"/>
            <a:ext cx="762000" cy="428625"/>
          </a:xfrm>
          <a:prstGeom prst="roundRect">
            <a:avLst>
              <a:gd name="adj" fmla="val 8889"/>
            </a:avLst>
          </a:prstGeom>
          <a:solidFill>
            <a:srgbClr val="282828"/>
          </a:solidFill>
          <a:ln w="9525">
            <a:solidFill>
              <a:srgbClr val="1A73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6257925" y="2623096"/>
            <a:ext cx="16633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Tutorial for Beginners ⭐</a:t>
            </a:r>
            <a:endParaRPr lang="en-US" sz="825" dirty="0"/>
          </a:p>
        </p:txBody>
      </p:sp>
      <p:sp>
        <p:nvSpPr>
          <p:cNvPr id="37" name="Text 32"/>
          <p:cNvSpPr/>
          <p:nvPr/>
        </p:nvSpPr>
        <p:spPr>
          <a:xfrm>
            <a:off x="6257925" y="2788741"/>
            <a:ext cx="16633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with Mosh • 8.5M views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5400675" y="3723233"/>
            <a:ext cx="3190875" cy="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400675" y="3213646"/>
            <a:ext cx="762000" cy="428625"/>
          </a:xfrm>
          <a:prstGeom prst="roundRect">
            <a:avLst>
              <a:gd name="adj" fmla="val 8889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6257925" y="3213646"/>
            <a:ext cx="15742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Full Course for Beginners</a:t>
            </a:r>
            <a:endParaRPr lang="en-US" sz="825" dirty="0"/>
          </a:p>
        </p:txBody>
      </p:sp>
      <p:sp>
        <p:nvSpPr>
          <p:cNvPr id="41" name="Text 36"/>
          <p:cNvSpPr/>
          <p:nvPr/>
        </p:nvSpPr>
        <p:spPr>
          <a:xfrm>
            <a:off x="6257925" y="3379291"/>
            <a:ext cx="15742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freeCodeCamp • 45M views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5400675" y="4313783"/>
            <a:ext cx="3190875" cy="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400675" y="3804196"/>
            <a:ext cx="762000" cy="428625"/>
          </a:xfrm>
          <a:prstGeom prst="roundRect">
            <a:avLst>
              <a:gd name="adj" fmla="val 8889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6257925" y="3804196"/>
            <a:ext cx="127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Python - Full Course</a:t>
            </a:r>
            <a:endParaRPr lang="en-US" sz="825" dirty="0"/>
          </a:p>
        </p:txBody>
      </p:sp>
      <p:sp>
        <p:nvSpPr>
          <p:cNvPr id="45" name="Text 40"/>
          <p:cNvSpPr/>
          <p:nvPr/>
        </p:nvSpPr>
        <p:spPr>
          <a:xfrm>
            <a:off x="6257925" y="3969841"/>
            <a:ext cx="12771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With Tim • 2.1M views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5368766" y="4394746"/>
            <a:ext cx="3254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Shorts →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Demo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1174552"/>
            <a:ext cx="2324100" cy="1796355"/>
          </a:xfrm>
          <a:prstGeom prst="roundRect">
            <a:avLst>
              <a:gd name="adj" fmla="val 6363"/>
            </a:avLst>
          </a:prstGeom>
          <a:solidFill>
            <a:srgbClr val="1A1A1A"/>
          </a:solidFill>
          <a:ln w="9525">
            <a:solidFill>
              <a:srgbClr val="3F3F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23925" y="13364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85242" y="1317427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8725" y="1370707"/>
            <a:ext cx="7517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searches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23925" y="1679377"/>
            <a:ext cx="2000250" cy="1055191"/>
          </a:xfrm>
          <a:prstGeom prst="roundRect">
            <a:avLst>
              <a:gd name="adj" fmla="val 7221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8225" y="1793677"/>
            <a:ext cx="1771650" cy="445591"/>
          </a:xfrm>
          <a:prstGeom prst="roundRect">
            <a:avLst>
              <a:gd name="adj" fmla="val 8550"/>
            </a:avLst>
          </a:prstGeom>
          <a:solidFill>
            <a:srgbClr val="3F3F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1869877"/>
            <a:ext cx="165163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How to learn Python for data science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038225" y="2315468"/>
            <a:ext cx="18070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searches: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38225" y="2486918"/>
            <a:ext cx="18070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tutorial for beginners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581400" y="1174552"/>
            <a:ext cx="2343150" cy="1796355"/>
          </a:xfrm>
          <a:prstGeom prst="roundRect">
            <a:avLst>
              <a:gd name="adj" fmla="val 6363"/>
            </a:avLst>
          </a:prstGeom>
          <a:solidFill>
            <a:srgbClr val="1A1A1A"/>
          </a:solidFill>
          <a:ln w="19050">
            <a:solidFill>
              <a:srgbClr val="1A73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52850" y="13460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4167" y="13269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57650" y="1380232"/>
            <a:ext cx="6351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analyzes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52850" y="1688902"/>
            <a:ext cx="2000250" cy="1110555"/>
          </a:xfrm>
          <a:prstGeom prst="roundRect">
            <a:avLst>
              <a:gd name="adj" fmla="val 6861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0" descr="/tmp/rasterized-gradient-a1c5d4b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150" y="1803202"/>
            <a:ext cx="1771650" cy="48190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962400" y="1898452"/>
            <a:ext cx="1612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Detected: Learning Intent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962400" y="2069902"/>
            <a:ext cx="16127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94%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3867150" y="2361307"/>
            <a:ext cx="18070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detected: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419850" y="1174552"/>
            <a:ext cx="2343150" cy="1796355"/>
          </a:xfrm>
          <a:prstGeom prst="roundRect">
            <a:avLst>
              <a:gd name="adj" fmla="val 6363"/>
            </a:avLst>
          </a:prstGeom>
          <a:solidFill>
            <a:srgbClr val="1A1A1A"/>
          </a:solidFill>
          <a:ln w="19050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591300" y="13460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652617" y="13269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96100" y="1380232"/>
            <a:ext cx="9782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results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591300" y="1688902"/>
            <a:ext cx="2000250" cy="1000125"/>
          </a:xfrm>
          <a:prstGeom prst="roundRect">
            <a:avLst>
              <a:gd name="adj" fmla="val 7619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6705600" y="2188964"/>
            <a:ext cx="1771650" cy="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05600" y="1860352"/>
            <a:ext cx="476250" cy="266700"/>
          </a:xfrm>
          <a:prstGeom prst="roundRect">
            <a:avLst>
              <a:gd name="adj" fmla="val 10714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239000" y="1860352"/>
            <a:ext cx="9430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Data Science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7239000" y="1980307"/>
            <a:ext cx="9430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Top rated tutorial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705600" y="2250877"/>
            <a:ext cx="476250" cy="266700"/>
          </a:xfrm>
          <a:prstGeom prst="roundRect">
            <a:avLst>
              <a:gd name="adj" fmla="val 10714"/>
            </a:avLst>
          </a:prstGeom>
          <a:solidFill>
            <a:srgbClr val="282828"/>
          </a:solidFill>
          <a:ln w="9525">
            <a:solidFill>
              <a:srgbClr val="3F3F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239000" y="2250877"/>
            <a:ext cx="9770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Python Course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7239000" y="2370832"/>
            <a:ext cx="97701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freeCodeCamp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762000" y="3123307"/>
            <a:ext cx="8001000" cy="1173212"/>
          </a:xfrm>
          <a:prstGeom prst="roundRect">
            <a:avLst>
              <a:gd name="adj" fmla="val 9742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952500" y="3313807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Prototype Features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261765" y="3614738"/>
            <a:ext cx="14527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AI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261765" y="3812828"/>
            <a:ext cx="145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detection reason &amp; confidence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3223915" y="3614738"/>
            <a:ext cx="14527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Results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223915" y="3812828"/>
            <a:ext cx="145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loading delay, seamless UX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5186065" y="3614738"/>
            <a:ext cx="14527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Control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186065" y="3812828"/>
            <a:ext cx="145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Shorts" always available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7148215" y="3614738"/>
            <a:ext cx="14020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Signals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148215" y="3812828"/>
            <a:ext cx="14020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&amp; ratings highlighted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681990" y="4448919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Interactive prototype available in HTML deliverable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8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2700" dirty="0"/>
          </a:p>
        </p:txBody>
      </p:sp>
      <p:pic>
        <p:nvPicPr>
          <p:cNvPr id="4" name="Image 0" descr="/tmp/rasterized-gradient-3d77cc6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849957"/>
            <a:ext cx="8001000" cy="14818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9650" y="1214735"/>
            <a:ext cx="43598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NORTH STAR METRIC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09650" y="1450925"/>
            <a:ext cx="43598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Search Abandonment Rate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9650" y="1793825"/>
            <a:ext cx="43598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educational searches where user exits within 30 seconds without clicking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7437281" y="1097607"/>
            <a:ext cx="10887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37281" y="1284238"/>
            <a:ext cx="108874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-30%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437281" y="1924199"/>
            <a:ext cx="10887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6 months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62000" y="2522339"/>
            <a:ext cx="2565350" cy="1516112"/>
          </a:xfrm>
          <a:prstGeom prst="roundRect">
            <a:avLst>
              <a:gd name="adj" fmla="val 628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81050" y="2522339"/>
            <a:ext cx="0" cy="1516112"/>
          </a:xfrm>
          <a:prstGeom prst="line">
            <a:avLst/>
          </a:prstGeom>
          <a:noFill/>
          <a:ln w="38100">
            <a:solidFill>
              <a:srgbClr val="1A73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0600" y="2712839"/>
            <a:ext cx="2189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990600" y="2935635"/>
            <a:ext cx="21891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Detection Trigger Rate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90600" y="3198465"/>
            <a:ext cx="8038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854845" y="3398490"/>
            <a:ext cx="8296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edu searches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90600" y="3701355"/>
            <a:ext cx="2189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AI detects learning intent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3479750" y="2522339"/>
            <a:ext cx="2565350" cy="1516112"/>
          </a:xfrm>
          <a:prstGeom prst="roundRect">
            <a:avLst>
              <a:gd name="adj" fmla="val 628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3498800" y="2522339"/>
            <a:ext cx="0" cy="1516112"/>
          </a:xfrm>
          <a:prstGeom prst="line">
            <a:avLst/>
          </a:prstGeom>
          <a:noFill/>
          <a:ln w="38100">
            <a:solidFill>
              <a:srgbClr val="F9AB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08350" y="2712839"/>
            <a:ext cx="2189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9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708350" y="2935635"/>
            <a:ext cx="21891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Time-to-First-Click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708350" y="3198465"/>
            <a:ext cx="70027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&lt;30s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4471095" y="3398490"/>
            <a:ext cx="8393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~45s today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708350" y="3701355"/>
            <a:ext cx="2189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path to relevant content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6197501" y="2522339"/>
            <a:ext cx="2565350" cy="1516112"/>
          </a:xfrm>
          <a:prstGeom prst="roundRect">
            <a:avLst>
              <a:gd name="adj" fmla="val 628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216551" y="2522339"/>
            <a:ext cx="0" cy="1516112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26101" y="2712839"/>
            <a:ext cx="2189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6426101" y="2935635"/>
            <a:ext cx="21891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Video CTR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26101" y="3198465"/>
            <a:ext cx="6309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&gt;6%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7120830" y="3398490"/>
            <a:ext cx="8197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~4% today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26101" y="3701355"/>
            <a:ext cx="2189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clicks on 20+ min videos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762000" y="4228951"/>
            <a:ext cx="8001000" cy="731490"/>
          </a:xfrm>
          <a:prstGeom prst="roundRect">
            <a:avLst>
              <a:gd name="adj" fmla="val 13021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914400" y="4381351"/>
            <a:ext cx="78501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GUARDRAIL METRICS (Must Not Regress)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44029" y="4642247"/>
            <a:ext cx="19890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 total watch time (platform-wide)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428554" y="4642247"/>
            <a:ext cx="16656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search engagement rate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95925" y="4642247"/>
            <a:ext cx="14485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detection accuracy &gt;85%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A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Mitigations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097459"/>
            <a:ext cx="8001000" cy="756196"/>
          </a:xfrm>
          <a:prstGeom prst="roundRect">
            <a:avLst>
              <a:gd name="adj" fmla="val 1007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5350" y="1230809"/>
            <a:ext cx="963067" cy="342900"/>
          </a:xfrm>
          <a:prstGeom prst="roundRect">
            <a:avLst>
              <a:gd name="adj" fmla="val 11111"/>
            </a:avLst>
          </a:prstGeom>
          <a:solidFill>
            <a:srgbClr val="F9A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82874" y="1268909"/>
            <a:ext cx="7880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0817" y="1230809"/>
            <a:ext cx="38116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- AI triggers on non-learning queries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900142" y="1230809"/>
            <a:ext cx="2729508" cy="489496"/>
          </a:xfrm>
          <a:prstGeom prst="roundRect">
            <a:avLst>
              <a:gd name="adj" fmla="val 7784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14430" y="1230809"/>
            <a:ext cx="0" cy="489496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23967" y="1326059"/>
            <a:ext cx="2560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23967" y="1478459"/>
            <a:ext cx="25606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confidence threshold, Show Shorts escape hatch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62000" y="1948904"/>
            <a:ext cx="8001000" cy="756196"/>
          </a:xfrm>
          <a:prstGeom prst="roundRect">
            <a:avLst>
              <a:gd name="adj" fmla="val 1007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95350" y="2082254"/>
            <a:ext cx="666750" cy="342900"/>
          </a:xfrm>
          <a:prstGeom prst="roundRect">
            <a:avLst>
              <a:gd name="adj" fmla="val 1111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5838" y="2120354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14500" y="2082254"/>
            <a:ext cx="44251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Backlash - Shorts creators see reduced visibility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205240" y="2082254"/>
            <a:ext cx="2424410" cy="489496"/>
          </a:xfrm>
          <a:prstGeom prst="roundRect">
            <a:avLst>
              <a:gd name="adj" fmla="val 7784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19527" y="2082254"/>
            <a:ext cx="0" cy="489496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9065" y="2177504"/>
            <a:ext cx="22494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29065" y="2329904"/>
            <a:ext cx="2249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affects learning queries (15% of searches)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62000" y="2800350"/>
            <a:ext cx="8001000" cy="756196"/>
          </a:xfrm>
          <a:prstGeom prst="roundRect">
            <a:avLst>
              <a:gd name="adj" fmla="val 1007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95350" y="2933700"/>
            <a:ext cx="624483" cy="342900"/>
          </a:xfrm>
          <a:prstGeom prst="roundRect">
            <a:avLst>
              <a:gd name="adj" fmla="val 11111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86260" y="2971800"/>
            <a:ext cx="4426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72233" y="2933700"/>
            <a:ext cx="46093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Dont Notice - Feature works but goes unappreciated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343650" y="2933700"/>
            <a:ext cx="2286000" cy="489496"/>
          </a:xfrm>
          <a:prstGeom prst="roundRect">
            <a:avLst>
              <a:gd name="adj" fmla="val 7784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357938" y="2933700"/>
            <a:ext cx="0" cy="489496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7475" y="3028950"/>
            <a:ext cx="21082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67475" y="3181350"/>
            <a:ext cx="21082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Subtle Learning mode indicator on hover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62000" y="3651796"/>
            <a:ext cx="8001000" cy="756196"/>
          </a:xfrm>
          <a:prstGeom prst="roundRect">
            <a:avLst>
              <a:gd name="adj" fmla="val 1007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95350" y="3785146"/>
            <a:ext cx="963067" cy="342900"/>
          </a:xfrm>
          <a:prstGeom prst="roundRect">
            <a:avLst>
              <a:gd name="adj" fmla="val 11111"/>
            </a:avLst>
          </a:prstGeom>
          <a:solidFill>
            <a:srgbClr val="F9A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82874" y="3823246"/>
            <a:ext cx="7880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010817" y="3785146"/>
            <a:ext cx="42640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in AI Model - Certain topics or languages underserved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343650" y="3785146"/>
            <a:ext cx="2286000" cy="489496"/>
          </a:xfrm>
          <a:prstGeom prst="roundRect">
            <a:avLst>
              <a:gd name="adj" fmla="val 7784"/>
            </a:avLst>
          </a:prstGeom>
          <a:solidFill>
            <a:srgbClr val="28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357938" y="3785146"/>
            <a:ext cx="0" cy="489496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7475" y="3880396"/>
            <a:ext cx="21082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67475" y="4032796"/>
            <a:ext cx="21082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training, regional A/B tests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09f190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762000" y="940743"/>
            <a:ext cx="2565350" cy="1951434"/>
          </a:xfrm>
          <a:prstGeom prst="roundRect">
            <a:avLst>
              <a:gd name="adj" fmla="val 585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762000" y="959793"/>
            <a:ext cx="256535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2500" y="1169343"/>
            <a:ext cx="2228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52500" y="1424583"/>
            <a:ext cx="22280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leave YouTube because Shorts dominate tutorial searches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952500" y="1967508"/>
            <a:ext cx="222803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900"/>
              </a:spcBef>
              <a:buNone/>
            </a:pPr>
            <a:r>
              <a:rPr lang="en-US" sz="2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52500" y="2340769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 to Google</a:t>
            </a:r>
            <a:endParaRPr lang="en-US" sz="825" dirty="0"/>
          </a:p>
        </p:txBody>
      </p:sp>
      <p:pic>
        <p:nvPicPr>
          <p:cNvPr id="10" name="Image 1" descr="/tmp/rasterized-gradient-4f6562d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750" y="940743"/>
            <a:ext cx="2565350" cy="19514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70250" y="1169343"/>
            <a:ext cx="2228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SOLUTION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70250" y="1424583"/>
            <a:ext cx="22280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 learning intent and prioritize tutorials over Shorts</a:t>
            </a:r>
            <a:endParaRPr lang="en-US" sz="1125" dirty="0"/>
          </a:p>
        </p:txBody>
      </p:sp>
      <p:sp>
        <p:nvSpPr>
          <p:cNvPr id="13" name="Text 9"/>
          <p:cNvSpPr/>
          <p:nvPr/>
        </p:nvSpPr>
        <p:spPr>
          <a:xfrm>
            <a:off x="3670250" y="1967508"/>
            <a:ext cx="222803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900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3670250" y="2340769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automatically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6197501" y="940743"/>
            <a:ext cx="2565350" cy="1951434"/>
          </a:xfrm>
          <a:prstGeom prst="roundRect">
            <a:avLst>
              <a:gd name="adj" fmla="val 585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6197501" y="959793"/>
            <a:ext cx="256535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88001" y="1169343"/>
            <a:ext cx="2228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388001" y="1424583"/>
            <a:ext cx="2228037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abandonment, increase satisfaction, protect competitive position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6388001" y="2181820"/>
            <a:ext cx="222803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900"/>
              </a:spcBef>
              <a:buNone/>
            </a:pPr>
            <a:r>
              <a:rPr lang="en-US" sz="2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-30%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6388001" y="2555081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 in 6 months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762000" y="3082677"/>
            <a:ext cx="8001000" cy="1081980"/>
          </a:xfrm>
          <a:prstGeom prst="roundRect">
            <a:avLst>
              <a:gd name="adj" fmla="val 10564"/>
            </a:avLst>
          </a:prstGeom>
          <a:solidFill>
            <a:srgbClr val="282828"/>
          </a:solidFill>
          <a:ln w="19050">
            <a:solidFill>
              <a:srgbClr val="3F3F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934593" y="3330327"/>
            <a:ext cx="765581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removes friction without requiring users to change behavior. </a:t>
            </a:r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UX is no UX.</a:t>
            </a:r>
            <a:endParaRPr lang="en-US" sz="1650" dirty="0"/>
          </a:p>
        </p:txBody>
      </p:sp>
      <p:sp>
        <p:nvSpPr>
          <p:cNvPr id="23" name="Text 19"/>
          <p:cNvSpPr/>
          <p:nvPr/>
        </p:nvSpPr>
        <p:spPr>
          <a:xfrm>
            <a:off x="3219152" y="4355157"/>
            <a:ext cx="3086695" cy="514350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523952" y="4507557"/>
            <a:ext cx="304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3647777" y="4588520"/>
            <a:ext cx="762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647777" y="4636145"/>
            <a:ext cx="762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685877" y="4564707"/>
            <a:ext cx="0" cy="95250"/>
          </a:xfrm>
          <a:prstGeom prst="line">
            <a:avLst/>
          </a:prstGeom>
          <a:noFill/>
          <a:ln w="76200">
            <a:solidFill>
              <a:srgbClr val="FF00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2000" y="4768304"/>
            <a:ext cx="25460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Swapan Kumar Soren • Cohort C48 • December 2025</a:t>
            </a:r>
            <a:endParaRPr lang="en-US" sz="825" dirty="0"/>
          </a:p>
        </p:txBody>
      </p:sp>
      <p:sp>
        <p:nvSpPr>
          <p:cNvPr id="29" name="Text 25"/>
          <p:cNvSpPr/>
          <p:nvPr/>
        </p:nvSpPr>
        <p:spPr>
          <a:xfrm>
            <a:off x="7598122" y="4768304"/>
            <a:ext cx="118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Lets discuss.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Cohort C48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AI Feature - Smart Learning Intent Detection</dc:title>
  <dc:subject>AI-Powered Feature Proposal</dc:subject>
  <dc:creator>Swapan Kumar Soren</dc:creator>
  <cp:lastModifiedBy>Swapan Kumar Soren</cp:lastModifiedBy>
  <cp:revision>1</cp:revision>
  <dcterms:created xsi:type="dcterms:W3CDTF">2025-12-26T03:19:43Z</dcterms:created>
  <dcterms:modified xsi:type="dcterms:W3CDTF">2025-12-26T03:19:43Z</dcterms:modified>
</cp:coreProperties>
</file>